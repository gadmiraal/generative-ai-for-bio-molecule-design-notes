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305" r:id="rId6"/>
    <p:sldId id="306" r:id="rId7"/>
    <p:sldId id="311" r:id="rId8"/>
    <p:sldId id="309" r:id="rId9"/>
    <p:sldId id="307" r:id="rId10"/>
    <p:sldId id="308" r:id="rId11"/>
    <p:sldId id="310" r:id="rId1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CEBF"/>
    <a:srgbClr val="E37892"/>
    <a:srgbClr val="DC6D3D"/>
    <a:srgbClr val="7C53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4B73FC-D28C-4B0B-B7BA-DACD5ED0683C}" v="182" dt="2024-10-07T12:27:23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29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3852C0-B3AD-422A-8AC7-999B4B96542A}" type="datetimeFigureOut">
              <a:rPr lang="en-GB" smtClean="0"/>
              <a:t>31/10/2024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DEC08-3FA1-4AFD-BCF5-808F173EFE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14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2D26C-DFF4-89A2-2482-E20455D45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6C2100-FF5B-385D-B839-F84A0BC6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3FEB6-06B2-6EFB-0AE9-AC77E8621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458E6-68E5-4178-872D-0F851C97ED69}" type="datetime1">
              <a:rPr lang="en-GB" smtClean="0"/>
              <a:t>31/10/2024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FBDB2-84FA-C157-3A37-486CC393A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4BC0-0032-54C6-A799-9AB2181B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70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F498-19DB-6E01-7FB5-00D06BB5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17A2E-E952-175D-3465-4EC68CE09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539FF-93BF-C465-91B4-2E9DAD6C0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CA08-C688-4736-B48D-54330E3B0660}" type="datetime1">
              <a:rPr lang="en-GB" smtClean="0"/>
              <a:t>31/10/2024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432BC-4283-CDFC-421D-D469F9FD6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9DBCB-CF2E-A93D-7EAD-4F3C3D03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748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3D6B6-D232-948A-138C-DA2EA5639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F10EA-3DC8-49EA-1B91-F8BA0D4E3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842CF-830F-0F98-AA72-BD20CF95B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2959-0F8E-4F90-871A-8F5FD7C39EC8}" type="datetime1">
              <a:rPr lang="en-GB" smtClean="0"/>
              <a:t>31/10/2024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15230-A070-5921-67DC-E21CDBD9A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30522-B86C-47BA-4EC4-96DA3B80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161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9EF9F-57E7-E39A-924F-40627791D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8A653-56EF-0E36-7C60-F0AB4E047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E3201-4AEC-0EE4-AD34-965D48A2C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2B446-0666-4388-4CEA-66DEAE80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47246-D1ED-490C-B907-18BC78CE6760}" type="datetime1">
              <a:rPr lang="en-GB" smtClean="0"/>
              <a:t>31/10/2024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F28DE-F1EF-5513-AEF7-BE8C85381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6949C-F1C7-9FF5-B414-EDB1D953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965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D1561-8400-F069-8912-90780363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30A9F-C03B-8836-A9DD-C07EF1EBD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CA115-9320-4AFB-56DB-F86430A3C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65246-78A1-C25A-36AE-EE96C7B22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EC2AB-5B46-C77E-F578-525D309068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92CB54-CCDD-03DA-FAA6-FE8E034F6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20BB0-71AE-4107-B014-A2BC23E779E7}" type="datetime1">
              <a:rPr lang="en-GB" smtClean="0"/>
              <a:t>31/10/2024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D57FCD-8E23-5C7A-4DF8-2EABECF40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20589B-C2AF-D188-85F6-E000DD456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37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9816-87D9-5919-2408-9BF55263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6B25E-8C39-6683-5580-2DE6CD04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30EF8-B2C4-45D1-9C57-5415AFB88FFD}" type="datetime1">
              <a:rPr lang="en-GB" smtClean="0"/>
              <a:t>31/10/2024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6C932-4559-32D7-CC00-D8A77EA4E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0C747-99FD-FBFB-801D-DC6789BA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873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DF875B-7529-4CF6-F2F1-6DA7506E4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D74F-8DB5-4E16-85A3-7EB5BBD6A1D0}" type="datetime1">
              <a:rPr lang="en-GB" smtClean="0"/>
              <a:t>31/10/2024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5D7500-20CB-4823-237E-F92369B9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475FE-7AB9-FEF4-7C55-BBBBB64FB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49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1947-E442-AE9C-B1C0-7FDD992FA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4244-3C7D-E5C2-5704-8115CA484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8AED1-F303-1ADD-20EE-9717360E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AEDE8-F5BD-D9A8-8D4C-900D04A1B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743B4-2A34-40EC-A0AA-458AEED764AC}" type="datetime1">
              <a:rPr lang="en-GB" smtClean="0"/>
              <a:t>31/10/2024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427B5-241A-751E-6FD1-DE8FDADC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00003-AE23-0B2B-F6D7-F33A049D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03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2D28D-EF0E-BB0F-A503-9A9C312E1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DFF94-8511-9A60-1C65-399A2C37C0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FF2FB-3507-F506-B576-B6A8E1515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22664-5242-EC6A-F23F-CB4214A47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BFF93-216F-4D16-9658-CAD79F528681}" type="datetime1">
              <a:rPr lang="en-GB" smtClean="0"/>
              <a:t>31/10/2024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F2B1C-BDBC-96AE-1529-785D4B4E7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4FE0F-0F73-6AA4-3535-2BA125B4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507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5430-EFC8-1BDF-D8CC-327531F79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30876-531C-622C-1D53-368A88C92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0F00B-3598-EBF6-10DC-1DC1AE722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27954-6BA2-48F8-8324-E7B42E1DF6B8}" type="datetime1">
              <a:rPr lang="en-GB" smtClean="0"/>
              <a:t>31/10/2024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E92D5-005B-5214-A84D-63B9732C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52FC3-382D-2EAA-4DAA-80B17BE6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012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1345F8-3A76-C88E-3AA8-D33BABDB0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33F38-8D14-742E-5719-6BD78FCCE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36E6B-F8CD-EA85-8C83-0C2F1835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D4326-195C-4919-8134-94385E9DEDD3}" type="datetime1">
              <a:rPr lang="en-GB" smtClean="0"/>
              <a:t>31/10/2024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C20BB-3524-0620-7529-6FE6DFBAB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46E69-B698-7D32-9C03-1BBE5B48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758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0353DD-2100-041D-43A6-665172502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90962-4262-44AB-26FA-957C7D5E2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C8467-1291-74AF-0602-7E5F1A9DB0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77C4E-3FF8-4D7B-9C77-296658F7CF32}" type="datetime1">
              <a:rPr lang="en-GB" smtClean="0"/>
              <a:t>31/10/2024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DD07F-7F85-FE61-1FDB-ACFE50B00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56E40-7754-88D2-9083-64B8A8027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74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081C-AB28-F728-2D40-408A50406E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Montserrat Light" pitchFamily="2" charset="0"/>
              </a:rPr>
              <a:t>Weekly Update #30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E00D92-1E8E-3C02-5128-031D9B744B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Montserrat" pitchFamily="2" charset="0"/>
              </a:rPr>
              <a:t>Gijs Admiraal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21FEE-C09C-57D1-63F0-9C80EA125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8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64161-AD33-6DEF-4DA4-A9D3F9F4E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week?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9469F-7820-9DB1-F28C-B5063CD91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Incorporated feedback</a:t>
            </a:r>
          </a:p>
          <a:p>
            <a:r>
              <a:rPr lang="en-GB" dirty="0"/>
              <a:t>Training &amp; validation</a:t>
            </a:r>
          </a:p>
          <a:p>
            <a:pPr lvl="1"/>
            <a:r>
              <a:rPr lang="en-GB" dirty="0"/>
              <a:t>Added reloading of dataset state</a:t>
            </a:r>
          </a:p>
          <a:p>
            <a:pPr lvl="1"/>
            <a:r>
              <a:rPr lang="en-GB" dirty="0"/>
              <a:t>Split validation from training script</a:t>
            </a:r>
          </a:p>
          <a:p>
            <a:r>
              <a:rPr lang="en-GB" dirty="0"/>
              <a:t>Generation process of absorbing models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52FA8-36DE-5E90-DFAA-172C24E8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65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329D7F-F8C1-504A-9C1A-86B49FD2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Feedback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6811FD-5BA2-3877-D206-191EEF982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Comment on non-canonical aa</a:t>
            </a:r>
          </a:p>
          <a:p>
            <a:pPr lvl="1"/>
            <a:r>
              <a:rPr lang="en-GB" dirty="0"/>
              <a:t>Found this figure on Wikipedia</a:t>
            </a:r>
          </a:p>
          <a:p>
            <a:r>
              <a:rPr lang="en-GB" dirty="0"/>
              <a:t>Figures: </a:t>
            </a:r>
          </a:p>
          <a:p>
            <a:pPr lvl="1"/>
            <a:r>
              <a:rPr lang="en-GB" dirty="0"/>
              <a:t>how to use/cite</a:t>
            </a:r>
          </a:p>
          <a:p>
            <a:pPr lvl="1"/>
            <a:r>
              <a:rPr lang="en-GB" dirty="0"/>
              <a:t>If it’s my own then no citation is needed?</a:t>
            </a:r>
          </a:p>
          <a:p>
            <a:r>
              <a:rPr lang="en-GB" dirty="0"/>
              <a:t>Intro paragraph at each section</a:t>
            </a:r>
          </a:p>
          <a:p>
            <a:pPr lvl="1"/>
            <a:r>
              <a:rPr lang="en-GB" dirty="0"/>
              <a:t>Jana says ‘Nice!’ and you say ‘redundant’</a:t>
            </a:r>
          </a:p>
          <a:p>
            <a:r>
              <a:rPr lang="en-GB" dirty="0"/>
              <a:t>Parallelization in </a:t>
            </a:r>
            <a:r>
              <a:rPr lang="en-GB" dirty="0" err="1"/>
              <a:t>EvoDiff</a:t>
            </a:r>
            <a:endParaRPr lang="en-GB" dirty="0"/>
          </a:p>
          <a:p>
            <a:r>
              <a:rPr lang="en-GB" dirty="0"/>
              <a:t>DDPM?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3A14B-6383-35DF-50B2-E421DFD9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3</a:t>
            </a:fld>
            <a:endParaRPr lang="en-GB"/>
          </a:p>
        </p:txBody>
      </p:sp>
      <p:pic>
        <p:nvPicPr>
          <p:cNvPr id="9" name="Picture 8" descr="A diagram of different types of protein&#10;&#10;Description automatically generated">
            <a:extLst>
              <a:ext uri="{FF2B5EF4-FFF2-40B4-BE49-F238E27FC236}">
                <a16:creationId xmlns:a16="http://schemas.microsoft.com/office/drawing/2014/main" id="{4062930D-5188-918C-5653-FE9C11981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235" y="205631"/>
            <a:ext cx="3485094" cy="28758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389C5B-DF34-63C1-9BD5-A213D2DFC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982" y="3236326"/>
            <a:ext cx="3861600" cy="1152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04BF74-62F4-9B0C-6B6C-5C60C8D3C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600" y="4650126"/>
            <a:ext cx="4239491" cy="15268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2355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1BE3F-1EFA-F10B-3C5D-22E7F141E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30E78-653D-B5B1-7DF6-2B3F53E0F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ByteNet?</a:t>
            </a:r>
          </a:p>
          <a:p>
            <a:r>
              <a:rPr lang="en-GB" dirty="0"/>
              <a:t>Dataset?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12203-5BC7-29C7-214A-06DD4849E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D95363-4D4A-63C6-F74C-9D00B5843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873" y="4108557"/>
            <a:ext cx="5186634" cy="14387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4A018B-B236-E317-AEB7-446D974DF2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250"/>
          <a:stretch/>
        </p:blipFill>
        <p:spPr>
          <a:xfrm>
            <a:off x="6807121" y="2279199"/>
            <a:ext cx="4458322" cy="9404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6548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42738-3283-C0C0-4578-A45743A5C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Generation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C98BE8-DCD5-AF48-7728-FE87E9077E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Initialize sequence (random or masked)</a:t>
                </a:r>
              </a:p>
              <a:p>
                <a:r>
                  <a:rPr lang="en-GB" dirty="0"/>
                  <a:t>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nl-NL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 and calculate posterior</a:t>
                </a:r>
              </a:p>
              <a:p>
                <a:pPr lvl="1"/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nl-NL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nl-NL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nl-NL">
                        <a:latin typeface="Cambria Math" panose="02040503050406030204" pitchFamily="18" charset="0"/>
                      </a:rPr>
                      <m:t>Cat</m:t>
                    </m:r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nl-NL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⊙</m:t>
                            </m:r>
                            <m:sSub>
                              <m:sSub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nl-NL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nl-NL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nl-NL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nl-NL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den>
                        </m:f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Multinomial sampling of posterior to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Keep iterating until we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C98BE8-DCD5-AF48-7728-FE87E9077E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6C8E9-2FB5-73A3-89EA-4DCCC0E8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703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9861E-65EC-375A-F7FE-4BE423947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Generation process – absorbing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B3C2F-D0E9-0B1D-0BD7-CDDF7D75A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499: </a:t>
            </a:r>
            <a:r>
              <a:rPr lang="en-GB" sz="1800" dirty="0">
                <a:solidFill>
                  <a:srgbClr val="FF0000"/>
                </a:solidFill>
              </a:rPr>
              <a:t>C</a:t>
            </a:r>
            <a:r>
              <a:rPr lang="en-GB" sz="1800" dirty="0"/>
              <a:t>NI#C#I#</a:t>
            </a:r>
            <a:r>
              <a:rPr lang="en-GB" sz="1800" dirty="0">
                <a:solidFill>
                  <a:srgbClr val="FF0000"/>
                </a:solidFill>
              </a:rPr>
              <a:t>H</a:t>
            </a:r>
            <a:r>
              <a:rPr lang="en-GB" sz="1800" dirty="0"/>
              <a:t>##PFK##N###D#######G</a:t>
            </a:r>
            <a:r>
              <a:rPr lang="en-GB" sz="1800" dirty="0">
                <a:solidFill>
                  <a:srgbClr val="FF0000"/>
                </a:solidFill>
              </a:rPr>
              <a:t>QP</a:t>
            </a:r>
            <a:r>
              <a:rPr lang="en-GB" sz="1800" dirty="0"/>
              <a:t>K########VW###</a:t>
            </a:r>
            <a:r>
              <a:rPr lang="en-GB" sz="1800" dirty="0">
                <a:solidFill>
                  <a:srgbClr val="FF0000"/>
                </a:solidFill>
              </a:rPr>
              <a:t>A</a:t>
            </a:r>
            <a:r>
              <a:rPr lang="en-GB" sz="1800" dirty="0"/>
              <a:t>TY####H###C...</a:t>
            </a:r>
          </a:p>
          <a:p>
            <a:r>
              <a:rPr lang="en-GB" sz="1800" dirty="0"/>
              <a:t>498: </a:t>
            </a:r>
            <a:r>
              <a:rPr lang="en-GB" sz="1800" dirty="0">
                <a:solidFill>
                  <a:srgbClr val="FF0000"/>
                </a:solidFill>
              </a:rPr>
              <a:t>Q</a:t>
            </a:r>
            <a:r>
              <a:rPr lang="en-GB" sz="1800" dirty="0"/>
              <a:t>NITC#I#</a:t>
            </a:r>
            <a:r>
              <a:rPr lang="en-GB" sz="1800" dirty="0">
                <a:solidFill>
                  <a:srgbClr val="FF0000"/>
                </a:solidFill>
              </a:rPr>
              <a:t>V</a:t>
            </a:r>
            <a:r>
              <a:rPr lang="en-GB" sz="1800" dirty="0"/>
              <a:t>##PFGQ#</a:t>
            </a:r>
            <a:r>
              <a:rPr lang="en-GB" sz="1800" dirty="0">
                <a:solidFill>
                  <a:srgbClr val="FF0000"/>
                </a:solidFill>
              </a:rPr>
              <a:t>N</a:t>
            </a:r>
            <a:r>
              <a:rPr lang="en-GB" sz="1800" dirty="0"/>
              <a:t>V##D#######</a:t>
            </a:r>
            <a:r>
              <a:rPr lang="en-GB" sz="1800" dirty="0">
                <a:solidFill>
                  <a:srgbClr val="FF0000"/>
                </a:solidFill>
              </a:rPr>
              <a:t>GANK</a:t>
            </a:r>
            <a:r>
              <a:rPr lang="en-GB" sz="1800" dirty="0"/>
              <a:t>#DR#YG##VW#Y#</a:t>
            </a:r>
            <a:r>
              <a:rPr lang="en-GB" sz="1800" dirty="0">
                <a:solidFill>
                  <a:srgbClr val="FF0000"/>
                </a:solidFill>
              </a:rPr>
              <a:t>N</a:t>
            </a:r>
            <a:r>
              <a:rPr lang="en-GB" sz="1800" dirty="0"/>
              <a:t>T</a:t>
            </a:r>
            <a:r>
              <a:rPr lang="en-GB" sz="1800" dirty="0">
                <a:solidFill>
                  <a:srgbClr val="FF0000"/>
                </a:solidFill>
              </a:rPr>
              <a:t>Y</a:t>
            </a:r>
            <a:r>
              <a:rPr lang="en-GB" sz="1800" dirty="0"/>
              <a:t>###</a:t>
            </a:r>
            <a:r>
              <a:rPr lang="en-GB" sz="1800" dirty="0">
                <a:solidFill>
                  <a:srgbClr val="FF0000"/>
                </a:solidFill>
              </a:rPr>
              <a:t>A</a:t>
            </a:r>
            <a:r>
              <a:rPr lang="en-GB" sz="1800" dirty="0"/>
              <a:t>H###C...</a:t>
            </a:r>
          </a:p>
          <a:p>
            <a:r>
              <a:rPr lang="en-GB" sz="1800" dirty="0"/>
              <a:t>497: </a:t>
            </a:r>
            <a:r>
              <a:rPr lang="en-GB" sz="1800" dirty="0">
                <a:solidFill>
                  <a:srgbClr val="FF0000"/>
                </a:solidFill>
              </a:rPr>
              <a:t>H</a:t>
            </a:r>
            <a:r>
              <a:rPr lang="en-GB" sz="1800" dirty="0"/>
              <a:t>NITCYD#V##PFGQI</a:t>
            </a:r>
            <a:r>
              <a:rPr lang="en-GB" sz="1800" dirty="0">
                <a:solidFill>
                  <a:srgbClr val="FF0000"/>
                </a:solidFill>
              </a:rPr>
              <a:t>H</a:t>
            </a:r>
            <a:r>
              <a:rPr lang="en-GB" sz="1800" dirty="0"/>
              <a:t>V#SDLA####T</a:t>
            </a:r>
            <a:r>
              <a:rPr lang="en-GB" sz="1800" dirty="0">
                <a:solidFill>
                  <a:srgbClr val="FF0000"/>
                </a:solidFill>
              </a:rPr>
              <a:t>L</a:t>
            </a:r>
            <a:r>
              <a:rPr lang="en-GB" sz="1800" dirty="0"/>
              <a:t>AN</a:t>
            </a:r>
            <a:r>
              <a:rPr lang="en-GB" sz="1800" dirty="0">
                <a:solidFill>
                  <a:srgbClr val="FF0000"/>
                </a:solidFill>
              </a:rPr>
              <a:t>T</a:t>
            </a:r>
            <a:r>
              <a:rPr lang="en-GB" sz="1800" dirty="0"/>
              <a:t>NDRKYG##VW#Y#</a:t>
            </a:r>
            <a:r>
              <a:rPr lang="en-GB" sz="1800" dirty="0">
                <a:solidFill>
                  <a:srgbClr val="FF0000"/>
                </a:solidFill>
              </a:rPr>
              <a:t>I</a:t>
            </a:r>
            <a:r>
              <a:rPr lang="en-GB" sz="1800" dirty="0"/>
              <a:t>T</a:t>
            </a:r>
            <a:r>
              <a:rPr lang="en-GB" sz="1800" dirty="0">
                <a:solidFill>
                  <a:srgbClr val="FF0000"/>
                </a:solidFill>
              </a:rPr>
              <a:t>C</a:t>
            </a:r>
            <a:r>
              <a:rPr lang="en-GB" sz="1800" dirty="0"/>
              <a:t>##W</a:t>
            </a:r>
            <a:r>
              <a:rPr lang="en-GB" sz="1800" dirty="0">
                <a:solidFill>
                  <a:srgbClr val="FF0000"/>
                </a:solidFill>
              </a:rPr>
              <a:t>C</a:t>
            </a:r>
            <a:r>
              <a:rPr lang="en-GB" sz="1800" dirty="0"/>
              <a:t>H###C…</a:t>
            </a:r>
          </a:p>
          <a:p>
            <a:pPr marL="0" indent="0">
              <a:buNone/>
            </a:pPr>
            <a:endParaRPr lang="en-GB" sz="1800" dirty="0"/>
          </a:p>
          <a:p>
            <a:r>
              <a:rPr lang="en-GB" sz="1800" dirty="0"/>
              <a:t>455: HQITLYYAWHIKMEDEQKFNCYWNNWLLI</a:t>
            </a:r>
            <a:r>
              <a:rPr lang="en-GB" sz="1800" dirty="0">
                <a:solidFill>
                  <a:srgbClr val="FF0000"/>
                </a:solidFill>
              </a:rPr>
              <a:t>A</a:t>
            </a:r>
            <a:r>
              <a:rPr lang="en-GB" sz="1800" dirty="0"/>
              <a:t>RKDHETRGPPRHMYKIKP</a:t>
            </a:r>
            <a:r>
              <a:rPr lang="en-GB" sz="1800" dirty="0">
                <a:solidFill>
                  <a:srgbClr val="FF0000"/>
                </a:solidFill>
              </a:rPr>
              <a:t>#</a:t>
            </a:r>
            <a:r>
              <a:rPr lang="en-GB" sz="1800" dirty="0"/>
              <a:t>SFQSE…</a:t>
            </a:r>
          </a:p>
          <a:p>
            <a:r>
              <a:rPr lang="en-GB" sz="1800" dirty="0"/>
              <a:t>454: HQITLYYAWHIKMEDEQKFNCYWNNWLLI</a:t>
            </a:r>
            <a:r>
              <a:rPr lang="en-GB" sz="1800" dirty="0">
                <a:solidFill>
                  <a:srgbClr val="FF0000"/>
                </a:solidFill>
              </a:rPr>
              <a:t>I</a:t>
            </a:r>
            <a:r>
              <a:rPr lang="en-GB" sz="1800" dirty="0"/>
              <a:t>RKDHETRGPPRHMYKIKP</a:t>
            </a:r>
            <a:r>
              <a:rPr lang="en-GB" sz="1800" dirty="0">
                <a:solidFill>
                  <a:srgbClr val="FF0000"/>
                </a:solidFill>
              </a:rPr>
              <a:t>#</a:t>
            </a:r>
            <a:r>
              <a:rPr lang="en-GB" sz="1800" dirty="0"/>
              <a:t>SFQSE…</a:t>
            </a:r>
          </a:p>
          <a:p>
            <a:r>
              <a:rPr lang="en-GB" sz="1800" dirty="0"/>
              <a:t>453: HQITLYYAWHIKMEDEQKFNCYWNNWLLIIRKDHETRGPPRHMYKIKP</a:t>
            </a:r>
            <a:r>
              <a:rPr lang="en-GB" sz="1800" dirty="0">
                <a:solidFill>
                  <a:srgbClr val="FF0000"/>
                </a:solidFill>
              </a:rPr>
              <a:t>#</a:t>
            </a:r>
            <a:r>
              <a:rPr lang="en-GB" sz="1800" dirty="0"/>
              <a:t>SFQSE…</a:t>
            </a:r>
          </a:p>
          <a:p>
            <a:pPr marL="0" indent="0">
              <a:buNone/>
            </a:pPr>
            <a:endParaRPr lang="en-GB" sz="1800" dirty="0"/>
          </a:p>
          <a:p>
            <a:r>
              <a:rPr lang="en-GB" sz="1800" dirty="0"/>
              <a:t>423: HQIELYYAWHIKMEDEQKFNCPWNNWLLIIRKDHSTNGPPQKMYKIKG#SFTVEKGK…</a:t>
            </a:r>
          </a:p>
          <a:p>
            <a:r>
              <a:rPr lang="en-GB" sz="1800" dirty="0"/>
              <a:t>422: HQIELYYAWHIKMEDEQKFNCPWNNWLLIIRKDHSTNGPPQKMYKIKG</a:t>
            </a:r>
            <a:r>
              <a:rPr lang="en-GB" sz="1800" dirty="0">
                <a:solidFill>
                  <a:srgbClr val="FF0000"/>
                </a:solidFill>
              </a:rPr>
              <a:t>#</a:t>
            </a:r>
            <a:r>
              <a:rPr lang="en-GB" sz="1800" dirty="0"/>
              <a:t>SFTVEKGK…</a:t>
            </a:r>
          </a:p>
          <a:p>
            <a:r>
              <a:rPr lang="en-GB" sz="1800" dirty="0"/>
              <a:t>421: HQIELYYAWHIKMEDEQKFNCPWNNWLLIIRKDHSTNGPPQKMYKIKG</a:t>
            </a:r>
            <a:r>
              <a:rPr lang="en-GB" sz="1800" dirty="0">
                <a:solidFill>
                  <a:srgbClr val="FF0000"/>
                </a:solidFill>
              </a:rPr>
              <a:t>D</a:t>
            </a:r>
            <a:r>
              <a:rPr lang="en-GB" sz="1800" dirty="0"/>
              <a:t>SFTVEKGK…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45B32-09FB-E3CF-9D42-B0501A6F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123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425BD-5E67-2FE9-15E7-2845F47C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4FB1D-F713-31F2-0498-AF5B34DF8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851"/>
          </a:xfrm>
        </p:spPr>
        <p:txBody>
          <a:bodyPr>
            <a:noAutofit/>
          </a:bodyPr>
          <a:lstStyle/>
          <a:p>
            <a:r>
              <a:rPr lang="en-GB" sz="1600" dirty="0"/>
              <a:t>Transition already unmasked tokens</a:t>
            </a:r>
          </a:p>
          <a:p>
            <a:pPr lvl="1"/>
            <a:r>
              <a:rPr lang="en-GB" sz="1400" dirty="0"/>
              <a:t>Add a </a:t>
            </a:r>
            <a:r>
              <a:rPr lang="en-GB" sz="1400" i="1" dirty="0" err="1"/>
              <a:t>transition_mask</a:t>
            </a:r>
            <a:r>
              <a:rPr lang="en-GB" sz="1400" i="1" dirty="0"/>
              <a:t> </a:t>
            </a:r>
            <a:r>
              <a:rPr lang="en-GB" sz="1400" dirty="0"/>
              <a:t>over probabilities</a:t>
            </a:r>
          </a:p>
          <a:p>
            <a:pPr lvl="1"/>
            <a:r>
              <a:rPr lang="en-GB" sz="1400" dirty="0"/>
              <a:t>Train longer?</a:t>
            </a:r>
          </a:p>
          <a:p>
            <a:r>
              <a:rPr lang="en-GB" sz="1600" dirty="0"/>
              <a:t>Quick unmasking</a:t>
            </a:r>
          </a:p>
          <a:p>
            <a:pPr lvl="1"/>
            <a:r>
              <a:rPr lang="en-GB" sz="1400" dirty="0"/>
              <a:t>Noise schedule is wrong</a:t>
            </a:r>
          </a:p>
          <a:p>
            <a:pPr lvl="1"/>
            <a:r>
              <a:rPr lang="en-GB" sz="1400" dirty="0"/>
              <a:t>Model prefers to quickly unmask</a:t>
            </a:r>
          </a:p>
          <a:p>
            <a:pPr lvl="1"/>
            <a:r>
              <a:rPr lang="en-GB" sz="1400" dirty="0"/>
              <a:t>Train longer?</a:t>
            </a:r>
          </a:p>
          <a:p>
            <a:r>
              <a:rPr lang="en-GB" sz="1600" dirty="0"/>
              <a:t>Noise Schedule:</a:t>
            </a:r>
          </a:p>
          <a:p>
            <a:pPr marL="0" indent="0">
              <a:buNone/>
            </a:pPr>
            <a:r>
              <a:rPr lang="en-GB" sz="1200" dirty="0"/>
              <a:t>499: #############################################################################################</a:t>
            </a:r>
          </a:p>
          <a:p>
            <a:pPr marL="0" indent="0">
              <a:buNone/>
            </a:pPr>
            <a:r>
              <a:rPr lang="en-GB" sz="1200" dirty="0"/>
              <a:t>454: ###E#Y##W###############N##L#####################SF##########################Q###D########### </a:t>
            </a:r>
          </a:p>
          <a:p>
            <a:pPr marL="0" indent="0">
              <a:buNone/>
            </a:pPr>
            <a:r>
              <a:rPr lang="en-GB" sz="1200" dirty="0"/>
              <a:t>421: ####L############K##C#############S#######M####G####V####V#######H##S#####################W#L</a:t>
            </a:r>
          </a:p>
          <a:p>
            <a:pPr marL="0" indent="0">
              <a:buNone/>
            </a:pPr>
            <a:r>
              <a:rPr lang="en-GB" sz="1200" dirty="0"/>
              <a:t>300: #QIE#####H###E#E##F#C###NW####R###ST#G#PQ###K##GD###VEK###E#####QHGW###R##A#N#TTL##C##FQ#M#NL</a:t>
            </a:r>
          </a:p>
          <a:p>
            <a:pPr marL="0" indent="0">
              <a:buNone/>
            </a:pPr>
            <a:r>
              <a:rPr lang="en-GB" sz="1200" dirty="0"/>
              <a:t> 200: HQIELYYAWHIKME#EQK##CP##NWLLII#KDH#TNGPP##MY#IK#DSFT##KG#V#IND#TQ#GWSWARH#ARNQ#T#DG#II##MMWN#</a:t>
            </a:r>
          </a:p>
          <a:p>
            <a:pPr marL="0" indent="0">
              <a:buNone/>
            </a:pPr>
            <a:r>
              <a:rPr lang="en-GB" sz="1200" dirty="0"/>
              <a:t>100 H#IEL#YAWHIKME#EQK###PWNNW#LIIRKDHST#GPP#KM####GDSFT##KGKVEINDQTQHGW#WAR#WARN#TTLDGCIIF#MMWNL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4D300-9D62-1F02-11D6-C14EB8677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13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42738-3283-C0C0-4578-A45743A5C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Generation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C98BE8-DCD5-AF48-7728-FE87E9077E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Initialize sequence (random or masked)</a:t>
                </a:r>
              </a:p>
              <a:p>
                <a:r>
                  <a:rPr lang="en-GB" dirty="0"/>
                  <a:t>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nl-NL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 and calculate posterior</a:t>
                </a:r>
              </a:p>
              <a:p>
                <a:pPr lvl="1"/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nl-NL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nl-NL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nl-NL">
                        <a:latin typeface="Cambria Math" panose="02040503050406030204" pitchFamily="18" charset="0"/>
                      </a:rPr>
                      <m:t>Cat</m:t>
                    </m:r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nl-NL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⊙</m:t>
                            </m:r>
                            <m:sSub>
                              <m:sSub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nl-NL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nl-NL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nl-NL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nl-NL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nl-NL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nl-NL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den>
                        </m:f>
                      </m:e>
                    </m:d>
                  </m:oMath>
                </a14:m>
                <a:endParaRPr lang="en-GB" dirty="0"/>
              </a:p>
              <a:p>
                <a:pPr lvl="1"/>
                <a:r>
                  <a:rPr lang="en-GB" dirty="0">
                    <a:solidFill>
                      <a:srgbClr val="FF0000"/>
                    </a:solidFill>
                  </a:rPr>
                  <a:t>Add </a:t>
                </a:r>
                <a:r>
                  <a:rPr lang="en-GB" i="1" dirty="0" err="1">
                    <a:solidFill>
                      <a:srgbClr val="FF0000"/>
                    </a:solidFill>
                  </a:rPr>
                  <a:t>transition_mask</a:t>
                </a:r>
                <a:endParaRPr lang="en-GB" i="1" dirty="0">
                  <a:solidFill>
                    <a:srgbClr val="FF0000"/>
                  </a:solidFill>
                </a:endParaRPr>
              </a:p>
              <a:p>
                <a:r>
                  <a:rPr lang="en-GB" dirty="0"/>
                  <a:t>Multinomial sampling of posterior to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Keep iterating until we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C98BE8-DCD5-AF48-7728-FE87E9077E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6C8E9-2FB5-73A3-89EA-4DCCC0E8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57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ntserrat">
      <a:majorFont>
        <a:latin typeface="Montserrat Ligh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2f5fda4-97a3-47c7-8308-3025c576a37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FAD911B2078E4FAC111FDBF9740ABB" ma:contentTypeVersion="8" ma:contentTypeDescription="Een nieuw document maken." ma:contentTypeScope="" ma:versionID="40d074649a363fe51b3448598e53368b">
  <xsd:schema xmlns:xsd="http://www.w3.org/2001/XMLSchema" xmlns:xs="http://www.w3.org/2001/XMLSchema" xmlns:p="http://schemas.microsoft.com/office/2006/metadata/properties" xmlns:ns3="32f5fda4-97a3-47c7-8308-3025c576a379" xmlns:ns4="065d5d57-d9fb-4c30-80d3-68aca1ff0522" targetNamespace="http://schemas.microsoft.com/office/2006/metadata/properties" ma:root="true" ma:fieldsID="ec6108434aa42753abd390293100ccab" ns3:_="" ns4:_="">
    <xsd:import namespace="32f5fda4-97a3-47c7-8308-3025c576a379"/>
    <xsd:import namespace="065d5d57-d9fb-4c30-80d3-68aca1ff052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5fda4-97a3-47c7-8308-3025c576a3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5d5d57-d9fb-4c30-80d3-68aca1ff052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2F3C67-3F37-474D-9609-B4FDD4474B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132242-1526-4AAA-B2E0-CF080077ABF5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65d5d57-d9fb-4c30-80d3-68aca1ff0522"/>
    <ds:schemaRef ds:uri="32f5fda4-97a3-47c7-8308-3025c576a379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8231DB8-6A69-4494-AFC0-8225C457A1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5fda4-97a3-47c7-8308-3025c576a379"/>
    <ds:schemaRef ds:uri="065d5d57-d9fb-4c30-80d3-68aca1ff05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Weekly_Update_27</Template>
  <TotalTime>3522</TotalTime>
  <Words>478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 Math</vt:lpstr>
      <vt:lpstr>Montserrat</vt:lpstr>
      <vt:lpstr>Montserrat Light</vt:lpstr>
      <vt:lpstr>Office Theme</vt:lpstr>
      <vt:lpstr>Weekly Update #30</vt:lpstr>
      <vt:lpstr>This week?</vt:lpstr>
      <vt:lpstr>Feedback</vt:lpstr>
      <vt:lpstr>Feedback</vt:lpstr>
      <vt:lpstr>Generation function</vt:lpstr>
      <vt:lpstr>Generation process – absorbing</vt:lpstr>
      <vt:lpstr>Two problems</vt:lpstr>
      <vt:lpstr>Generation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Gijs Admiraal</dc:creator>
  <cp:lastModifiedBy>Gijs Admiraal</cp:lastModifiedBy>
  <cp:revision>5</cp:revision>
  <dcterms:created xsi:type="dcterms:W3CDTF">2024-10-03T10:14:25Z</dcterms:created>
  <dcterms:modified xsi:type="dcterms:W3CDTF">2024-11-01T10:24:00Z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0x0101001CFAD911B2078E4FAC111FDBF9740ABB</vt:lpwstr>
  </property>
</Properties>
</file>